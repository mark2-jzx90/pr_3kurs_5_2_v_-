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100" b="1">
          <a:solidFill>
            <a:srgbClr val="F0F0EE"/>
          </a:solidFill>
          <a:latin typeface="Segoe UI"/>
        </a:defRPr>
      </a:lvl1pPr>
    </p:titleStyle>
    <p:bodyStyle>
      <a:lvl1pPr algn="l">
        <a:defRPr sz="1400">
          <a:solidFill>
            <a:srgbClr val="F0F0EE"/>
          </a:solidFill>
          <a:latin typeface="Segoe UI"/>
        </a:defRPr>
      </a:lvl1pPr>
    </p:bodyStyle>
    <p:otherStyle>
      <a:defPPr>
        <a:defRPr lang="ru-RU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822960"/>
            <a:ext cx="106344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400"/>
              </a:lnSpc>
              <a:buNone/>
            </a:pPr>
            <a:r>
              <a:rPr lang="ru-RU" sz="10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МИНИСТЕРСТВО ОБРАЗОВАНИЯ И МОЛОДЕЖНОЙ ПОЛИТИКИ СВЕРДЛОВСКОЙ ОБЛАСТИ</a:t>
            </a:r>
          </a:p>
          <a:p>
            <a:pPr algn="ctr">
              <a:lnSpc>
                <a:spcPts val="1400"/>
              </a:lnSpc>
              <a:buNone/>
            </a:pPr>
            <a:r>
              <a:rPr lang="ru-RU" sz="10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ГАПОУ СО «ЕКАТЕРИНБУРГСКИЙ КОЛЛЕДЖ ТРАНСПОРТНОГО СТРОИТЕЛЬСТВА»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777240" y="2103120"/>
            <a:ext cx="10634472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4300"/>
              </a:lnSpc>
              <a:buNone/>
            </a:pPr>
            <a:r>
              <a:rPr lang="ru-RU" sz="33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Разработка мобильного приложения</a:t>
            </a:r>
          </a:p>
          <a:p>
            <a:pPr algn="ctr">
              <a:lnSpc>
                <a:spcPts val="4300"/>
              </a:lnSpc>
              <a:buNone/>
            </a:pPr>
            <a:r>
              <a:rPr lang="ru-RU" sz="33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«Факты о числах»</a:t>
            </a:r>
          </a:p>
        </p:txBody>
      </p:sp>
      <p:sp>
        <p:nvSpPr>
          <p:cNvPr id="4" name="Shape 4"/>
          <p:cNvSpPr/>
          <p:nvPr/>
        </p:nvSpPr>
        <p:spPr>
          <a:xfrm>
            <a:off x="5358384" y="3712464"/>
            <a:ext cx="1463040" cy="45720"/>
          </a:xfrm>
          <a:prstGeom prst="rect">
            <a:avLst/>
          </a:prstGeom>
          <a:solidFill>
            <a:srgbClr val="45AD7E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777240" y="3913632"/>
            <a:ext cx="106344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ru-RU" sz="13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Android-приложение на Kotlin с подключением Numbers API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4553712"/>
            <a:ext cx="1063447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buNone/>
            </a:pPr>
            <a:r>
              <a:rPr lang="ru-RU" sz="11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Выполнил: </a:t>
            </a:r>
            <a:r>
              <a:rPr lang="ru-RU" sz="11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Зуев Максим Денисович, группа ПР-31</a:t>
            </a:r>
          </a:p>
          <a:p>
            <a:pPr algn="ctr">
              <a:lnSpc>
                <a:spcPts val="1800"/>
              </a:lnSpc>
              <a:buNone/>
            </a:pPr>
            <a:r>
              <a:rPr lang="ru-RU" sz="11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Руководитель: </a:t>
            </a:r>
            <a:r>
              <a:rPr lang="ru-RU" sz="11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Мирошниченко Г.В.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5989320"/>
            <a:ext cx="106344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ru-RU" sz="9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Екатеринбург,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О разработке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77240" y="155448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lang="ru-RU" sz="15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«Факты о числах» — это Android-приложение, которое по введённому числу показывает интересный факт. Факты берутся из сервиса Numbers API.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77240" y="256032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lang="ru-RU" sz="15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Имя пользователя сохраняется в настройках приложения, а понравившиеся факты — в базу данных на телефоне. Поэтому историю можно открыть в любой момент.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370332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Что умеет приложение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4041648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8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искать факт по любому числу;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4544568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8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сохранять факты в базу Room;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77240" y="5047488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8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смотреть историю, изменять и удалять записи.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Цель и задачи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77240" y="155448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Цель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77240" y="1847088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lang="ru-RU" sz="15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Разработать Android-приложение, которое получает факты о числах через Numbers API и сохраняет их на устройстве.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269748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Задачи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3035808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1. </a:t>
            </a: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Изучить Numbers API и формат ответа JSON.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365760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2. </a:t>
            </a: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Отправить запрос на сервер и разобрать ответ в приложении.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77240" y="427939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3. </a:t>
            </a: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Сделать вход по имени и сохранить имя в настройках.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4901184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4. </a:t>
            </a: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Сохранять факты в базу Room, изменять и удалять их.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77240" y="5522976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5. </a:t>
            </a: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Проверить работу приложения на телефоне.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Используемые инструменты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77240" y="16459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4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Kotlin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3611880" y="16459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язык, на котором написано приложение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224942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4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Android Studio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611880" y="224942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среда разработки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285292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4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Volley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611880" y="285292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запросы к серверу Numbers API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345643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4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Gson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611880" y="345643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разбор ответа в формате JSON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77240" y="405993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4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Room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3611880" y="405993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база данных на телефоне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777240" y="46634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4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SharedPreferences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3611880" y="46634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хранение имени и последнего ответа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77240" y="526694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4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Material Components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611880" y="526694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sz="13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кнопки, поля ввода и диалоги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Как работает приложение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77240" y="16916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ru-RU" sz="15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1. </a:t>
            </a:r>
            <a:r>
              <a:rPr lang="ru-RU" sz="15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Пользователь вводит имя и попадает на главный экран.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77240" y="242316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ru-RU" sz="15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2. </a:t>
            </a:r>
            <a:r>
              <a:rPr lang="ru-RU" sz="15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Вводит число и нажимает кнопку «Поиск факта».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315468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ru-RU" sz="15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3. </a:t>
            </a:r>
            <a:r>
              <a:rPr lang="ru-RU" sz="15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Приложение отправляет запрос к Numbers API.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38862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ru-RU" sz="15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4. </a:t>
            </a:r>
            <a:r>
              <a:rPr lang="ru-RU" sz="15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На экране появляется факт, его можно сохранить в базу.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461772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ru-RU" sz="15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5. </a:t>
            </a:r>
            <a:r>
              <a:rPr lang="ru-RU" sz="15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Сохранённые факты открываются в истории.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Вход по имени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1051560" y="1572768"/>
            <a:ext cx="2606040" cy="4526280"/>
          </a:xfrm>
          <a:prstGeom prst="roundRect">
            <a:avLst>
              <a:gd name="adj" fmla="val 9825"/>
            </a:avLst>
          </a:prstGeom>
          <a:solidFill>
            <a:srgbClr val="0E1A22"/>
          </a:solidFill>
          <a:ln w="12700">
            <a:solidFill>
              <a:srgbClr val="3A4A55"/>
            </a:solidFill>
          </a:ln>
        </p:spPr>
      </p:sp>
      <p:sp>
        <p:nvSpPr>
          <p:cNvPr id="5" name="Shape 5"/>
          <p:cNvSpPr/>
          <p:nvPr/>
        </p:nvSpPr>
        <p:spPr>
          <a:xfrm>
            <a:off x="1161288" y="1719072"/>
            <a:ext cx="2386584" cy="4233672"/>
          </a:xfrm>
          <a:prstGeom prst="roundRect">
            <a:avLst>
              <a:gd name="adj" fmla="val 6130"/>
            </a:avLst>
          </a:prstGeom>
          <a:solidFill>
            <a:srgbClr val="8B1338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2034540" y="1636776"/>
            <a:ext cx="640080" cy="41148"/>
          </a:xfrm>
          <a:prstGeom prst="roundRect">
            <a:avLst>
              <a:gd name="adj" fmla="val 44444"/>
            </a:avLst>
          </a:prstGeom>
          <a:solidFill>
            <a:srgbClr val="3A4A55"/>
          </a:solidFill>
          <a:ln>
            <a:noFill/>
          </a:ln>
        </p:spPr>
      </p:sp>
      <p:sp>
        <p:nvSpPr>
          <p:cNvPr id="7" name="Shape 7"/>
          <p:cNvSpPr txBox="1"/>
          <p:nvPr/>
        </p:nvSpPr>
        <p:spPr>
          <a:xfrm>
            <a:off x="1261872" y="233172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65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9:41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43000" y="267004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ru-RU" sz="12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Вход в систему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298448" y="324612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7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Имя</a:t>
            </a:r>
          </a:p>
        </p:txBody>
      </p:sp>
      <p:sp>
        <p:nvSpPr>
          <p:cNvPr id="10" name="Shape 10"/>
          <p:cNvSpPr/>
          <p:nvPr/>
        </p:nvSpPr>
        <p:spPr>
          <a:xfrm>
            <a:off x="1298448" y="3429000"/>
            <a:ext cx="2121408" cy="365760"/>
          </a:xfrm>
          <a:prstGeom prst="roundRect">
            <a:avLst>
              <a:gd name="adj" fmla="val 10000"/>
            </a:avLst>
          </a:prstGeom>
          <a:solidFill>
            <a:srgbClr val="7A1030"/>
          </a:solidFill>
          <a:ln w="8890">
            <a:solidFill>
              <a:srgbClr val="C58AA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ru-RU" sz="850" dirty="0">
                <a:solidFill>
                  <a:srgbClr val="D9A7B8"/>
                </a:solidFill>
                <a:latin typeface="Segoe UI"/>
                <a:ea typeface=""/>
                <a:cs typeface="Segoe UI"/>
              </a:rPr>
              <a:t>Максим</a:t>
            </a:r>
          </a:p>
        </p:txBody>
      </p:sp>
      <p:sp>
        <p:nvSpPr>
          <p:cNvPr id="11" name="Shape 11"/>
          <p:cNvSpPr/>
          <p:nvPr/>
        </p:nvSpPr>
        <p:spPr>
          <a:xfrm>
            <a:off x="1298448" y="3931920"/>
            <a:ext cx="2121408" cy="384048"/>
          </a:xfrm>
          <a:prstGeom prst="roundRect">
            <a:avLst>
              <a:gd name="adj" fmla="val 9524"/>
            </a:avLst>
          </a:prstGeom>
          <a:solidFill>
            <a:srgbClr val="45AD7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ru-RU" sz="900" b="1" dirty="0">
                <a:solidFill>
                  <a:srgbClr val="17242D"/>
                </a:solidFill>
                <a:latin typeface="Segoe UI"/>
                <a:ea typeface=""/>
                <a:cs typeface="Segoe UI"/>
              </a:rPr>
              <a:t>Войти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207008" y="4526280"/>
            <a:ext cx="230428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900"/>
              </a:lnSpc>
              <a:buNone/>
            </a:pPr>
            <a:r>
              <a:rPr lang="ru-RU" sz="700" dirty="0">
                <a:solidFill>
                  <a:srgbClr val="E8C3CF"/>
                </a:solidFill>
                <a:latin typeface="Segoe UI"/>
                <a:ea typeface=""/>
                <a:cs typeface="Segoe UI"/>
              </a:rPr>
              <a:t>Имя сохранится в настройках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4251960" y="169164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Поле «Имя» нельзя оставить пустым: приложение покажет сообщение об ошибке.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251960" y="242316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Имя сохраняется в SharedPreferences, файл StudentPrefs.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251960" y="315468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При следующем запуске вход не нужен: приложение сразу здоровается по имени.</a:t>
            </a:r>
          </a:p>
        </p:txBody>
      </p:sp>
      <p:sp>
        <p:nvSpPr>
          <p:cNvPr id="16" name="Shape 16"/>
          <p:cNvSpPr/>
          <p:nvPr/>
        </p:nvSpPr>
        <p:spPr>
          <a:xfrm>
            <a:off x="4251960" y="4251960"/>
            <a:ext cx="7132320" cy="658368"/>
          </a:xfrm>
          <a:prstGeom prst="rect">
            <a:avLst/>
          </a:prstGeom>
          <a:solidFill>
            <a:srgbClr val="0F1C24"/>
          </a:solidFill>
          <a:ln w="12700">
            <a:solidFill>
              <a:srgbClr val="2E4350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4434840" y="438912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05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prefs.edit().putString("username", name).apply()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434840" y="4663440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сохранение имени при входе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Поиск факта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1051560" y="1572768"/>
            <a:ext cx="2606040" cy="4526280"/>
          </a:xfrm>
          <a:prstGeom prst="roundRect">
            <a:avLst>
              <a:gd name="adj" fmla="val 9825"/>
            </a:avLst>
          </a:prstGeom>
          <a:solidFill>
            <a:srgbClr val="0E1A22"/>
          </a:solidFill>
          <a:ln w="12700">
            <a:solidFill>
              <a:srgbClr val="3A4A55"/>
            </a:solidFill>
          </a:ln>
        </p:spPr>
      </p:sp>
      <p:sp>
        <p:nvSpPr>
          <p:cNvPr id="5" name="Shape 5"/>
          <p:cNvSpPr/>
          <p:nvPr/>
        </p:nvSpPr>
        <p:spPr>
          <a:xfrm>
            <a:off x="1161288" y="1719072"/>
            <a:ext cx="2386584" cy="4233672"/>
          </a:xfrm>
          <a:prstGeom prst="roundRect">
            <a:avLst>
              <a:gd name="adj" fmla="val 6130"/>
            </a:avLst>
          </a:prstGeom>
          <a:solidFill>
            <a:srgbClr val="8B1338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2034540" y="1636776"/>
            <a:ext cx="640080" cy="41148"/>
          </a:xfrm>
          <a:prstGeom prst="roundRect">
            <a:avLst>
              <a:gd name="adj" fmla="val 44444"/>
            </a:avLst>
          </a:prstGeom>
          <a:solidFill>
            <a:srgbClr val="3A4A55"/>
          </a:solidFill>
          <a:ln>
            <a:noFill/>
          </a:ln>
        </p:spPr>
      </p:sp>
      <p:sp>
        <p:nvSpPr>
          <p:cNvPr id="7" name="Shape 7"/>
          <p:cNvSpPr txBox="1"/>
          <p:nvPr/>
        </p:nvSpPr>
        <p:spPr>
          <a:xfrm>
            <a:off x="1261872" y="187452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65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9:41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261872" y="208483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8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Привет, Студент: Максим!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143000" y="239572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ru-RU" sz="9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Приложение Numbers API</a:t>
            </a:r>
          </a:p>
        </p:txBody>
      </p:sp>
      <p:sp>
        <p:nvSpPr>
          <p:cNvPr id="10" name="Shape 10"/>
          <p:cNvSpPr/>
          <p:nvPr/>
        </p:nvSpPr>
        <p:spPr>
          <a:xfrm>
            <a:off x="1298448" y="2788920"/>
            <a:ext cx="2121408" cy="347472"/>
          </a:xfrm>
          <a:prstGeom prst="roundRect">
            <a:avLst>
              <a:gd name="adj" fmla="val 10526"/>
            </a:avLst>
          </a:prstGeom>
          <a:solidFill>
            <a:srgbClr val="7A1030"/>
          </a:solidFill>
          <a:ln w="8890">
            <a:solidFill>
              <a:srgbClr val="C58AA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ru-RU" sz="8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42</a:t>
            </a:r>
          </a:p>
        </p:txBody>
      </p:sp>
      <p:sp>
        <p:nvSpPr>
          <p:cNvPr id="11" name="Shape 11"/>
          <p:cNvSpPr/>
          <p:nvPr/>
        </p:nvSpPr>
        <p:spPr>
          <a:xfrm>
            <a:off x="1298448" y="3246120"/>
            <a:ext cx="2121408" cy="347472"/>
          </a:xfrm>
          <a:prstGeom prst="roundRect">
            <a:avLst>
              <a:gd name="adj" fmla="val 10526"/>
            </a:avLst>
          </a:prstGeom>
          <a:solidFill>
            <a:srgbClr val="45AD7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ru-RU" sz="850" b="1" dirty="0">
                <a:solidFill>
                  <a:srgbClr val="17242D"/>
                </a:solidFill>
                <a:latin typeface="Segoe UI"/>
                <a:ea typeface=""/>
                <a:cs typeface="Segoe UI"/>
              </a:rPr>
              <a:t>Поиск факта</a:t>
            </a:r>
          </a:p>
        </p:txBody>
      </p:sp>
      <p:sp>
        <p:nvSpPr>
          <p:cNvPr id="12" name="Shape 12"/>
          <p:cNvSpPr/>
          <p:nvPr/>
        </p:nvSpPr>
        <p:spPr>
          <a:xfrm>
            <a:off x="1298448" y="3749040"/>
            <a:ext cx="2121408" cy="960120"/>
          </a:xfrm>
          <a:prstGeom prst="roundRect">
            <a:avLst>
              <a:gd name="adj" fmla="val 3810"/>
            </a:avLst>
          </a:prstGeom>
          <a:solidFill>
            <a:srgbClr val="A318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000"/>
              </a:lnSpc>
              <a:buNone/>
            </a:pPr>
            <a:r>
              <a:rPr lang="ru-RU" sz="75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Факт о числе 42:</a:t>
            </a:r>
          </a:p>
          <a:p>
            <a:pPr algn="l">
              <a:lnSpc>
                <a:spcPts val="900"/>
              </a:lnSpc>
              <a:buNone/>
            </a:pPr>
            <a:r>
              <a:rPr lang="ru-RU" sz="7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42 — ответ на главный вопрос жизни, Вселенной и всего такого.</a:t>
            </a:r>
          </a:p>
        </p:txBody>
      </p:sp>
      <p:sp>
        <p:nvSpPr>
          <p:cNvPr id="13" name="Shape 13"/>
          <p:cNvSpPr/>
          <p:nvPr/>
        </p:nvSpPr>
        <p:spPr>
          <a:xfrm>
            <a:off x="1298448" y="4919472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45AD7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ru-RU" sz="700" b="1" dirty="0">
                <a:solidFill>
                  <a:srgbClr val="17242D"/>
                </a:solidFill>
                <a:latin typeface="Segoe UI"/>
                <a:ea typeface=""/>
                <a:cs typeface="Segoe UI"/>
              </a:rPr>
              <a:t>Сохранить в базу Room</a:t>
            </a:r>
          </a:p>
        </p:txBody>
      </p:sp>
      <p:sp>
        <p:nvSpPr>
          <p:cNvPr id="14" name="Shape 14"/>
          <p:cNvSpPr/>
          <p:nvPr/>
        </p:nvSpPr>
        <p:spPr>
          <a:xfrm>
            <a:off x="1298448" y="5303520"/>
            <a:ext cx="2121408" cy="310896"/>
          </a:xfrm>
          <a:prstGeom prst="roundRect">
            <a:avLst>
              <a:gd name="adj" fmla="val 11765"/>
            </a:avLst>
          </a:prstGeom>
          <a:noFill/>
          <a:ln w="9525">
            <a:solidFill>
              <a:srgbClr val="F0F0E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ru-RU" sz="7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Посмотреть историю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251960" y="169164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В поле вводится число, по кнопке «Поиск факта» уходит запрос на сервер.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251960" y="242316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Ответ показывается на экране: «Факт о числе 42: …».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251960" y="315468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Кнопка «Сохранить в базу Room» появляется только после ответа.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251960" y="388620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Последний ответ сохраняется в настройках и восстанавливается при запуске.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Запрос и ответ API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77240" y="1536192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Запрос</a:t>
            </a:r>
          </a:p>
        </p:txBody>
      </p:sp>
      <p:sp>
        <p:nvSpPr>
          <p:cNvPr id="5" name="Shape 5"/>
          <p:cNvSpPr/>
          <p:nvPr/>
        </p:nvSpPr>
        <p:spPr>
          <a:xfrm>
            <a:off x="777240" y="1828800"/>
            <a:ext cx="10424160" cy="566928"/>
          </a:xfrm>
          <a:prstGeom prst="rect">
            <a:avLst/>
          </a:prstGeom>
          <a:solidFill>
            <a:srgbClr val="0F1C24"/>
          </a:solidFill>
          <a:ln w="12700">
            <a:solidFill>
              <a:srgbClr val="2E4350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960120" y="199339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GET http://www.number-trivia.com/42?json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2578608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Ответ</a:t>
            </a:r>
          </a:p>
        </p:txBody>
      </p:sp>
      <p:sp>
        <p:nvSpPr>
          <p:cNvPr id="8" name="Shape 8"/>
          <p:cNvSpPr/>
          <p:nvPr/>
        </p:nvSpPr>
        <p:spPr>
          <a:xfrm>
            <a:off x="777240" y="2871216"/>
            <a:ext cx="10424160" cy="1371600"/>
          </a:xfrm>
          <a:prstGeom prst="rect">
            <a:avLst/>
          </a:prstGeom>
          <a:solidFill>
            <a:srgbClr val="0F1C24"/>
          </a:solidFill>
          <a:ln w="12700">
            <a:solidFill>
              <a:srgbClr val="2E4350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3017520"/>
            <a:ext cx="100584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buNone/>
            </a:pPr>
            <a:r>
              <a:rPr lang="ru-RU" sz="105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{</a:t>
            </a:r>
          </a:p>
          <a:p>
            <a:pPr algn="l">
              <a:lnSpc>
                <a:spcPts val="1400"/>
              </a:lnSpc>
              <a:buNone/>
            </a:pPr>
            <a:r>
              <a:rPr lang="ru-RU" sz="105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  "text": "42 is the answer to life, the universe, and everything.",</a:t>
            </a:r>
          </a:p>
          <a:p>
            <a:pPr algn="l">
              <a:lnSpc>
                <a:spcPts val="1400"/>
              </a:lnSpc>
              <a:buNone/>
            </a:pPr>
            <a:r>
              <a:rPr lang="ru-RU" sz="105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  "number": 42,</a:t>
            </a:r>
          </a:p>
          <a:p>
            <a:pPr algn="l">
              <a:lnSpc>
                <a:spcPts val="1400"/>
              </a:lnSpc>
              <a:buNone/>
            </a:pPr>
            <a:r>
              <a:rPr lang="ru-RU" sz="105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  "found": true,</a:t>
            </a:r>
          </a:p>
          <a:p>
            <a:pPr algn="l">
              <a:lnSpc>
                <a:spcPts val="1400"/>
              </a:lnSpc>
              <a:buNone/>
            </a:pPr>
            <a:r>
              <a:rPr lang="ru-RU" sz="105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  "type": "trivia"</a:t>
            </a:r>
          </a:p>
          <a:p>
            <a:pPr algn="l">
              <a:lnSpc>
                <a:spcPts val="1400"/>
              </a:lnSpc>
              <a:buNone/>
            </a:pPr>
            <a:r>
              <a:rPr lang="ru-RU" sz="105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}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4498848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Ответ приходит в формате JSON, Gson превращает его в объект NumberFactResponse.</a:t>
            </a:r>
          </a:p>
          <a:p>
            <a:pPr algn="l" marL="256032" indent="-256032">
              <a:lnSpc>
                <a:spcPts val="1900"/>
              </a:lnSpc>
              <a:spcBef>
                <a:spcPts val="800"/>
              </a:spcBef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Поля объекта: text, number, found, type.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История фактов в Room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1051560" y="1572768"/>
            <a:ext cx="2606040" cy="4526280"/>
          </a:xfrm>
          <a:prstGeom prst="roundRect">
            <a:avLst>
              <a:gd name="adj" fmla="val 9825"/>
            </a:avLst>
          </a:prstGeom>
          <a:solidFill>
            <a:srgbClr val="0E1A22"/>
          </a:solidFill>
          <a:ln w="12700">
            <a:solidFill>
              <a:srgbClr val="3A4A55"/>
            </a:solidFill>
          </a:ln>
        </p:spPr>
      </p:sp>
      <p:sp>
        <p:nvSpPr>
          <p:cNvPr id="5" name="Shape 5"/>
          <p:cNvSpPr/>
          <p:nvPr/>
        </p:nvSpPr>
        <p:spPr>
          <a:xfrm>
            <a:off x="1161288" y="1719072"/>
            <a:ext cx="2386584" cy="4233672"/>
          </a:xfrm>
          <a:prstGeom prst="roundRect">
            <a:avLst>
              <a:gd name="adj" fmla="val 6130"/>
            </a:avLst>
          </a:prstGeom>
          <a:solidFill>
            <a:srgbClr val="8B1338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2034540" y="1636776"/>
            <a:ext cx="640080" cy="41148"/>
          </a:xfrm>
          <a:prstGeom prst="roundRect">
            <a:avLst>
              <a:gd name="adj" fmla="val 44444"/>
            </a:avLst>
          </a:prstGeom>
          <a:solidFill>
            <a:srgbClr val="3A4A55"/>
          </a:solidFill>
          <a:ln>
            <a:noFill/>
          </a:ln>
        </p:spPr>
      </p:sp>
      <p:sp>
        <p:nvSpPr>
          <p:cNvPr id="7" name="Shape 7"/>
          <p:cNvSpPr txBox="1"/>
          <p:nvPr/>
        </p:nvSpPr>
        <p:spPr>
          <a:xfrm>
            <a:off x="1261872" y="187452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65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9:41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261872" y="204825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9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Сохраненное в Room</a:t>
            </a:r>
          </a:p>
        </p:txBody>
      </p:sp>
      <p:sp>
        <p:nvSpPr>
          <p:cNvPr id="9" name="Shape 9"/>
          <p:cNvSpPr/>
          <p:nvPr/>
        </p:nvSpPr>
        <p:spPr>
          <a:xfrm>
            <a:off x="1298448" y="2395728"/>
            <a:ext cx="2121408" cy="457200"/>
          </a:xfrm>
          <a:prstGeom prst="roundRect">
            <a:avLst>
              <a:gd name="adj" fmla="val 6000"/>
            </a:avLst>
          </a:prstGeom>
          <a:solidFill>
            <a:srgbClr val="A318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850"/>
              </a:lnSpc>
              <a:buNone/>
            </a:pPr>
            <a:r>
              <a:rPr lang="ru-RU" sz="7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Число 42: 42 — ответ на главный вопрос...</a:t>
            </a:r>
          </a:p>
        </p:txBody>
      </p:sp>
      <p:sp>
        <p:nvSpPr>
          <p:cNvPr id="10" name="Shape 10"/>
          <p:cNvSpPr/>
          <p:nvPr/>
        </p:nvSpPr>
        <p:spPr>
          <a:xfrm>
            <a:off x="1298448" y="2944368"/>
            <a:ext cx="2121408" cy="457200"/>
          </a:xfrm>
          <a:prstGeom prst="roundRect">
            <a:avLst>
              <a:gd name="adj" fmla="val 6000"/>
            </a:avLst>
          </a:prstGeom>
          <a:solidFill>
            <a:srgbClr val="A318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850"/>
              </a:lnSpc>
              <a:buNone/>
            </a:pPr>
            <a:r>
              <a:rPr lang="ru-RU" sz="7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Число 7: семь чудес света</a:t>
            </a:r>
          </a:p>
        </p:txBody>
      </p:sp>
      <p:sp>
        <p:nvSpPr>
          <p:cNvPr id="11" name="Shape 11"/>
          <p:cNvSpPr/>
          <p:nvPr/>
        </p:nvSpPr>
        <p:spPr>
          <a:xfrm>
            <a:off x="1298448" y="3493008"/>
            <a:ext cx="2121408" cy="457200"/>
          </a:xfrm>
          <a:prstGeom prst="roundRect">
            <a:avLst>
              <a:gd name="adj" fmla="val 6000"/>
            </a:avLst>
          </a:prstGeom>
          <a:solidFill>
            <a:srgbClr val="A318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850"/>
              </a:lnSpc>
              <a:buNone/>
            </a:pPr>
            <a:r>
              <a:rPr lang="ru-RU" sz="7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Число 13: число несчастья</a:t>
            </a:r>
          </a:p>
        </p:txBody>
      </p:sp>
      <p:sp>
        <p:nvSpPr>
          <p:cNvPr id="12" name="Shape 12"/>
          <p:cNvSpPr/>
          <p:nvPr/>
        </p:nvSpPr>
        <p:spPr>
          <a:xfrm>
            <a:off x="1298448" y="4041648"/>
            <a:ext cx="2121408" cy="457200"/>
          </a:xfrm>
          <a:prstGeom prst="roundRect">
            <a:avLst>
              <a:gd name="adj" fmla="val 6000"/>
            </a:avLst>
          </a:prstGeom>
          <a:solidFill>
            <a:srgbClr val="A318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850"/>
              </a:lnSpc>
              <a:buNone/>
            </a:pPr>
            <a:r>
              <a:rPr lang="ru-RU" sz="7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Число 108: священное число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1207008" y="4681728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00"/>
              </a:lnSpc>
              <a:buNone/>
            </a:pPr>
            <a:r>
              <a:rPr lang="ru-RU" sz="650" dirty="0">
                <a:solidFill>
                  <a:srgbClr val="E8C3CF"/>
                </a:solidFill>
                <a:latin typeface="Segoe UI"/>
                <a:ea typeface=""/>
                <a:cs typeface="Segoe UI"/>
              </a:rPr>
              <a:t>долгое нажатие — изменить или удалить</a:t>
            </a:r>
          </a:p>
        </p:txBody>
      </p:sp>
      <p:sp>
        <p:nvSpPr>
          <p:cNvPr id="14" name="Shape 14"/>
          <p:cNvSpPr/>
          <p:nvPr/>
        </p:nvSpPr>
        <p:spPr>
          <a:xfrm>
            <a:off x="1298448" y="5138928"/>
            <a:ext cx="2121408" cy="310896"/>
          </a:xfrm>
          <a:prstGeom prst="roundRect">
            <a:avLst>
              <a:gd name="adj" fmla="val 11765"/>
            </a:avLst>
          </a:prstGeom>
          <a:solidFill>
            <a:srgbClr val="45AD7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ru-RU" sz="750" b="1" dirty="0">
                <a:solidFill>
                  <a:srgbClr val="17242D"/>
                </a:solidFill>
                <a:latin typeface="Segoe UI"/>
                <a:ea typeface=""/>
                <a:cs typeface="Segoe UI"/>
              </a:rPr>
              <a:t>Назад к поиску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251960" y="153619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Таблица facts_table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251960" y="18470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id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080760" y="18470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— номер записи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251960" y="23042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number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080760" y="23042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— введённое число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4251960" y="2761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factText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080760" y="27614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— текст факта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251960" y="33832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200" b="1" dirty="0">
                <a:solidFill>
                  <a:srgbClr val="45AD7E"/>
                </a:solidFill>
                <a:latin typeface="Segoe UI"/>
                <a:ea typeface=""/>
                <a:cs typeface="Segoe UI"/>
              </a:rPr>
              <a:t>Операции с записями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251960" y="36758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F0F0EE"/>
                </a:solidFill>
                <a:latin typeface="Consolas"/>
                <a:ea typeface=""/>
                <a:cs typeface="Consolas"/>
              </a:rPr>
              <a:t>insertFact()   getAllFacts()   updateFact()   deleteFact()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4251960" y="42062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Долгое нажатие на запись открывает диалог: текст можно изменить или удалить.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4251960" y="48920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19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3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Изменения сразу сохраняются в базе.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5029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ru-RU" sz="26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Что можно улучшить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170432"/>
            <a:ext cx="10634472" cy="12802"/>
          </a:xfrm>
          <a:prstGeom prst="rect">
            <a:avLst/>
          </a:prstGeom>
          <a:solidFill>
            <a:srgbClr val="2E4350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77240" y="16916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20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Добавить другие виды фактов: математика, даты, годы.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77240" y="246888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20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Сделать избранное и поиск по сохранённым фактам.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324612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20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Добавить регистрацию и хранить историю в облаке.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402336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20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Сделать светлую тему оформления.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48006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56032" indent="-256032">
              <a:lnSpc>
                <a:spcPts val="2000"/>
              </a:lnSpc>
              <a:buClr>
                <a:srgbClr val="45AD7E"/>
              </a:buClr>
              <a:buSzPct val="100000"/>
              <a:buFont typeface="Arial"/>
              <a:buChar char="•"/>
            </a:pPr>
            <a:r>
              <a:rPr lang="ru-RU" sz="145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Написать автотесты для основных функций.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7240" y="2331720"/>
            <a:ext cx="1063447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ru-RU" sz="3400" b="1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Спасибо за внимание</a:t>
            </a:r>
          </a:p>
        </p:txBody>
      </p:sp>
      <p:sp>
        <p:nvSpPr>
          <p:cNvPr id="3" name="Shape 3"/>
          <p:cNvSpPr/>
          <p:nvPr/>
        </p:nvSpPr>
        <p:spPr>
          <a:xfrm>
            <a:off x="5358384" y="3182112"/>
            <a:ext cx="1463040" cy="45720"/>
          </a:xfrm>
          <a:prstGeom prst="rect">
            <a:avLst/>
          </a:prstGeom>
          <a:solidFill>
            <a:srgbClr val="45AD7E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77240" y="3429000"/>
            <a:ext cx="106344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ru-RU" sz="1400" dirty="0">
                <a:solidFill>
                  <a:srgbClr val="F0F0EE"/>
                </a:solidFill>
                <a:latin typeface="Segoe UI"/>
                <a:ea typeface=""/>
                <a:cs typeface="Segoe UI"/>
              </a:rPr>
              <a:t>Зуев Максим Денисович, группа ПР-31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77240" y="3858768"/>
            <a:ext cx="106344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ru-RU" sz="125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Готов ответить на вопросы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332720" y="6355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ru-RU" sz="900" dirty="0">
                <a:solidFill>
                  <a:srgbClr val="9FB2BE"/>
                </a:solidFill>
                <a:latin typeface="Segoe UI"/>
                <a:ea typeface="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ts">
  <a:themeElements>
    <a:clrScheme name="Facts">
      <a:dk1>
        <a:srgbClr val="17242D"/>
      </a:dk1>
      <a:lt1>
        <a:srgbClr val="F0F0EE"/>
      </a:lt1>
      <a:dk2>
        <a:srgbClr val="0E1A22"/>
      </a:dk2>
      <a:lt2>
        <a:srgbClr val="9FB2BE"/>
      </a:lt2>
      <a:accent1>
        <a:srgbClr val="45AD7E"/>
      </a:accent1>
      <a:accent2>
        <a:srgbClr val="8B1338"/>
      </a:accent2>
      <a:accent3>
        <a:srgbClr val="9C1A40"/>
      </a:accent3>
      <a:accent4>
        <a:srgbClr val="2E4350"/>
      </a:accent4>
      <a:accent5>
        <a:srgbClr val="1F303B"/>
      </a:accent5>
      <a:accent6>
        <a:srgbClr val="FFFFFF"/>
      </a:accent6>
      <a:hlink>
        <a:srgbClr val="45AD7E"/>
      </a:hlink>
      <a:folHlink>
        <a:srgbClr val="9FB2BE"/>
      </a:folHlink>
    </a:clrScheme>
    <a:fontScheme name="Fac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a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11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Факты о числах</dc:title>
  <dc:subject>Разработка и создание мобильного приложения</dc:subject>
  <dc:creator>Зуев Максим Денисович</dc:creator>
  <cp:lastModifiedBy>Зуев Максим Денисович</cp:lastModifiedBy>
  <cp:revision>1</cp:revision>
  <dcterms:created xsi:type="dcterms:W3CDTF">2026-10-29T09:00:00Z</dcterms:created>
  <dcterms:modified xsi:type="dcterms:W3CDTF">2026-10-29T09:00:00Z</dcterms:modified>
</cp:coreProperties>
</file>